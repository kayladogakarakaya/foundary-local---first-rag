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FINAL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904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221F1A"/>
                </a:solidFill>
                <a:latin typeface="Georgia"/>
              </a:rPr>
              <a:t>AGORA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221F1A"/>
                </a:solidFill>
                <a:latin typeface="Georgia"/>
              </a:rPr>
              <a:t>Three philosophers. One dilemma. Zero internet connection.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B655A"/>
                </a:solidFill>
                <a:latin typeface="Georgia"/>
              </a:rPr>
              <a:t>A local, offline RAG assistant that lets Kant, Mill, and Nietzsche answer the same ethical question — each one grounded strictly in his own 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74920"/>
            <a:ext cx="5303520" cy="9525"/>
          </a:xfrm>
          <a:prstGeom prst="rect">
            <a:avLst/>
          </a:prstGeom>
          <a:solidFill>
            <a:srgbClr val="D8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1F1A"/>
                </a:solidFill>
                <a:latin typeface="Consolas"/>
              </a:rPr>
              <a:t>Presented by [Your Name]  ·  [Class / Program]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B655A"/>
                </a:solidFill>
                <a:latin typeface="Consolas"/>
              </a:rPr>
              <a:t>FOUNDRY LOCAL · PHI-3.5-MINI · RUNS ENTIRELY ON-DEVICE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8412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 i="1">
                <a:solidFill>
                  <a:srgbClr val="221F1A"/>
                </a:solidFill>
                <a:latin typeface="Georgia"/>
              </a:rPr>
              <a:t>“I wanted to know what three very different philosophers would say about the same hard question — without reading three books to find out.”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502920" cy="3810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9875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6B655A"/>
                </a:solidFill>
                <a:latin typeface="Georgia"/>
              </a:rPr>
              <a:t>As a student who loves philosophy, the obstacle was never interest — it was scale. Kant's Fundamental Principles, Mill's Utilitarianism, and Nietzsche's Genealogy of Morality are long, dense primary texts. And a generic chatbot doesn't solve this honestly: it answers from vague training memory, and can quietly mix up eras, mangle arguments, or invent quotes no philosopher ever wrote.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4709160" cy="141732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4456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53832"/>
                </a:solidFill>
                <a:latin typeface="Consolas"/>
              </a:rPr>
              <a:t>A GENERIC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4160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55A"/>
                </a:solidFill>
                <a:latin typeface="Georgia"/>
              </a:rPr>
              <a:t>Answers from memory. May blend authors, invent quotes, or state a position with false confidence — with no way to check the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4343400"/>
            <a:ext cx="4709160" cy="141732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54456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691F"/>
                </a:solidFill>
                <a:latin typeface="Consolas"/>
              </a:rPr>
              <a:t>AGORA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4892040"/>
            <a:ext cx="41605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6B655A"/>
                </a:solidFill>
                <a:latin typeface="Georgia"/>
              </a:rPr>
              <a:t>Retrieves real excerpts first, is only allowed to answer from them, and shows exactly which passage it relied on for every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1F1A"/>
                </a:solidFill>
                <a:latin typeface="Georgia"/>
              </a:rPr>
              <a:t>Retrieval-Augmented Generation, in six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55A"/>
                </a:solidFill>
                <a:latin typeface="Georgia"/>
              </a:rPr>
              <a:t>Instead of asking the model to recall philosophy from training, every question first retrieves real passages from the local library — then the model must answer from those passages.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4623" y="274320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2639" y="2880360"/>
            <a:ext cx="131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639" y="3182112"/>
            <a:ext cx="1316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1F1A"/>
                </a:solidFill>
                <a:latin typeface="Georgia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2639" y="3703320"/>
            <a:ext cx="13167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55A"/>
                </a:solidFill>
                <a:latin typeface="Georgia"/>
              </a:rPr>
              <a:t>Original scanned texts — page numbers, footnotes, running headers.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7391" y="345186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93691F"/>
                </a:solidFill>
                <a:latin typeface="Georgi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48559" y="274320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6575" y="2880360"/>
            <a:ext cx="131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6575" y="3182112"/>
            <a:ext cx="1316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1F1A"/>
                </a:solidFill>
                <a:latin typeface="Georgia"/>
              </a:rPr>
              <a:t>Clean Markdown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6575" y="3703320"/>
            <a:ext cx="13167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55A"/>
                </a:solidFill>
                <a:latin typeface="Georgia"/>
              </a:rPr>
              <a:t>Noise stripped; author, title &amp; category tagged per document.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1327" y="345186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93691F"/>
                </a:solidFill>
                <a:latin typeface="Georgi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2495" y="274320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0511" y="2880360"/>
            <a:ext cx="131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0511" y="3182112"/>
            <a:ext cx="1316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1F1A"/>
                </a:solidFill>
                <a:latin typeface="Georgia"/>
              </a:rPr>
              <a:t>Chunks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0511" y="3703320"/>
            <a:ext cx="13167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55A"/>
                </a:solidFill>
                <a:latin typeface="Georgia"/>
              </a:rPr>
              <a:t>~200-word overlapping pieces, small enough to retrieve precisely.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5263" y="345186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93691F"/>
                </a:solidFill>
                <a:latin typeface="Georgia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274320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447" y="2880360"/>
            <a:ext cx="131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3182112"/>
            <a:ext cx="1316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1F1A"/>
                </a:solidFill>
                <a:latin typeface="Georgia"/>
              </a:rPr>
              <a:t>TF Vectors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3703320"/>
            <a:ext cx="13167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55A"/>
                </a:solidFill>
                <a:latin typeface="Georgia"/>
              </a:rPr>
              <a:t>Local word-frequency fingerprint — no cloud embedding API.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9199" y="345186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93691F"/>
                </a:solidFill>
                <a:latin typeface="Georgia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0367" y="274320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8383" y="2880360"/>
            <a:ext cx="131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8383" y="3182112"/>
            <a:ext cx="1316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1F1A"/>
                </a:solidFill>
                <a:latin typeface="Georgia"/>
              </a:rPr>
              <a:t>Per-Author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8383" y="3703320"/>
            <a:ext cx="13167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55A"/>
                </a:solidFill>
                <a:latin typeface="Georgia"/>
              </a:rPr>
              <a:t>Each philosopher matched only against his own text.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3135" y="3451860"/>
            <a:ext cx="2011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93691F"/>
                </a:solidFill>
                <a:latin typeface="Georgia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44303" y="2743200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2319" y="2880360"/>
            <a:ext cx="13167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2319" y="3182112"/>
            <a:ext cx="131673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1F1A"/>
                </a:solidFill>
                <a:latin typeface="Georgia"/>
              </a:rPr>
              <a:t>3 Cited Stances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2319" y="3703320"/>
            <a:ext cx="131673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655A"/>
                </a:solidFill>
                <a:latin typeface="Georgia"/>
              </a:rPr>
              <a:t>phi-3.5-mini answers each, streamed live,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THE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1F1A"/>
                </a:solidFill>
                <a:latin typeface="Georgia"/>
              </a:rPr>
              <a:t>Three complete primary texts, not summaries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27" y="1965960"/>
            <a:ext cx="3246120" cy="3383280"/>
          </a:xfrm>
          <a:prstGeom prst="roundRect">
            <a:avLst>
              <a:gd name="adj" fmla="val 5000"/>
            </a:avLst>
          </a:prstGeom>
          <a:solidFill>
            <a:srgbClr val="DFE6EE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6627" y="1965960"/>
            <a:ext cx="3246120" cy="63500"/>
          </a:xfrm>
          <a:prstGeom prst="rect">
            <a:avLst/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2659" y="2286000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F5F80"/>
                </a:solidFill>
                <a:latin typeface="Georgia"/>
              </a:rPr>
              <a:t>Immanuel Kant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659" y="2834640"/>
            <a:ext cx="27340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221F1A"/>
                </a:solidFill>
                <a:latin typeface="Georgia"/>
              </a:rPr>
              <a:t>Fundamental Principles of the Metaphysic of Morals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659" y="3931920"/>
            <a:ext cx="2734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3F5F80"/>
                </a:solidFill>
                <a:latin typeface="Consolas"/>
              </a:rPr>
              <a:t>176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659" y="4663440"/>
            <a:ext cx="27340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B655A"/>
                </a:solidFill>
                <a:latin typeface="Consolas"/>
              </a:rPr>
              <a:t>chunks · trans. T. K. Abbott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B655A"/>
                </a:solidFill>
                <a:latin typeface="Consolas"/>
              </a:rPr>
              <a:t>Deontological Ethics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2787" y="1965960"/>
            <a:ext cx="3246120" cy="3383280"/>
          </a:xfrm>
          <a:prstGeom prst="roundRect">
            <a:avLst>
              <a:gd name="adj" fmla="val 5000"/>
            </a:avLst>
          </a:prstGeom>
          <a:solidFill>
            <a:srgbClr val="E2E9DD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2787" y="1965960"/>
            <a:ext cx="3246120" cy="63500"/>
          </a:xfrm>
          <a:prstGeom prst="rect">
            <a:avLst/>
          </a:prstGeom>
          <a:solidFill>
            <a:srgbClr val="4F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8819" y="2286000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F6B45"/>
                </a:solidFill>
                <a:latin typeface="Georgia"/>
              </a:rPr>
              <a:t>John Stuart Mill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8819" y="2834640"/>
            <a:ext cx="27340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221F1A"/>
                </a:solidFill>
                <a:latin typeface="Georgia"/>
              </a:rPr>
              <a:t>Utilitarianism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8819" y="3931920"/>
            <a:ext cx="2734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4F6B45"/>
                </a:solidFill>
                <a:latin typeface="Consolas"/>
              </a:rPr>
              <a:t>156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8819" y="4663440"/>
            <a:ext cx="27340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B655A"/>
                </a:solidFill>
                <a:latin typeface="Consolas"/>
              </a:rPr>
              <a:t>chunks · Global Grey edition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B655A"/>
                </a:solidFill>
                <a:latin typeface="Consolas"/>
              </a:rPr>
              <a:t>Consequentialist Ethics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8947" y="1965960"/>
            <a:ext cx="3246120" cy="3383280"/>
          </a:xfrm>
          <a:prstGeom prst="roundRect">
            <a:avLst>
              <a:gd name="adj" fmla="val 5000"/>
            </a:avLst>
          </a:prstGeom>
          <a:solidFill>
            <a:srgbClr val="F1DEDB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8947" y="1965960"/>
            <a:ext cx="3246120" cy="63500"/>
          </a:xfrm>
          <a:prstGeom prst="rect">
            <a:avLst/>
          </a:prstGeom>
          <a:solidFill>
            <a:srgbClr val="953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4979" y="2286000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53832"/>
                </a:solidFill>
                <a:latin typeface="Georgia"/>
              </a:rPr>
              <a:t>Friedrich Nietzsche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4979" y="2834640"/>
            <a:ext cx="27340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221F1A"/>
                </a:solidFill>
                <a:latin typeface="Georgia"/>
              </a:rPr>
              <a:t>On the Genealogy of Morality + supplementary excerpts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4979" y="3931920"/>
            <a:ext cx="2734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953832"/>
                </a:solidFill>
                <a:latin typeface="Consolas"/>
              </a:rPr>
              <a:t>444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4979" y="4663440"/>
            <a:ext cx="27340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B655A"/>
                </a:solidFill>
                <a:latin typeface="Consolas"/>
              </a:rPr>
              <a:t>chunks · trans. Carol Diethe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6B655A"/>
                </a:solidFill>
                <a:latin typeface="Consolas"/>
              </a:rPr>
              <a:t>Genealogical Critique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55A"/>
                </a:solidFill>
                <a:latin typeface="Consolas"/>
              </a:rPr>
              <a:t>776 chunks  ·  135,000+ words of primary source text  ·  fully searchable 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1F1A"/>
                </a:solidFill>
                <a:latin typeface="Georgia"/>
              </a:rPr>
              <a:t>What “vectorizing” a text actually means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55A"/>
                </a:solidFill>
                <a:latin typeface="Consolas"/>
              </a:rPr>
              <a:t>Query: “Is it ever morally permissible to lie to protect someone from harm?”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F5F80"/>
                </a:solidFill>
                <a:latin typeface="Consolas"/>
              </a:rPr>
              <a:t>Kant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3154680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1720" y="3154680"/>
            <a:ext cx="1140256" cy="201168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10896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55A"/>
                </a:solidFill>
                <a:latin typeface="Consolas"/>
              </a:rPr>
              <a:t>0.43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6B45"/>
                </a:solidFill>
                <a:latin typeface="Consolas"/>
              </a:rPr>
              <a:t>Mill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657600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31720" y="3657600"/>
            <a:ext cx="1166774" cy="201168"/>
          </a:xfrm>
          <a:prstGeom prst="roundRect">
            <a:avLst>
              <a:gd name="adj" fmla="val 50000"/>
            </a:avLst>
          </a:prstGeom>
          <a:solidFill>
            <a:srgbClr val="4F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6118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55A"/>
                </a:solidFill>
                <a:latin typeface="Consolas"/>
              </a:rPr>
              <a:t>0.44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14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53832"/>
                </a:solidFill>
                <a:latin typeface="Consolas"/>
              </a:rPr>
              <a:t>Nietzsche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4160520"/>
            <a:ext cx="2651760" cy="201168"/>
          </a:xfrm>
          <a:prstGeom prst="roundRect">
            <a:avLst>
              <a:gd name="adj" fmla="val 50000"/>
            </a:avLst>
          </a:prstGeom>
          <a:solidFill>
            <a:srgbClr val="E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31720" y="4160520"/>
            <a:ext cx="1034186" cy="201168"/>
          </a:xfrm>
          <a:prstGeom prst="roundRect">
            <a:avLst>
              <a:gd name="adj" fmla="val 50000"/>
            </a:avLst>
          </a:prstGeom>
          <a:solidFill>
            <a:srgbClr val="953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411480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655A"/>
                </a:solidFill>
                <a:latin typeface="Consolas"/>
              </a:rPr>
              <a:t>0.39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B655A"/>
                </a:solidFill>
                <a:latin typeface="Consolas"/>
              </a:rPr>
              <a:t>↑ real top-match scores captured from the running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57400"/>
            <a:ext cx="44805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655A"/>
                </a:solidFill>
                <a:latin typeface="Georgia"/>
              </a:rPr>
              <a:t>Each chunk becomes a term-frequency vector — essentially a word-count fingerprint. The query becomes one too. Cosine similarity then measures how much vocabulary two vectors share.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655A"/>
                </a:solidFill>
                <a:latin typeface="Georgia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B655A"/>
                </a:solidFill>
                <a:latin typeface="Georgia"/>
              </a:rPr>
              <a:t>No internet embedding API, no black box: you can point at the exact shared words that pulled a passage in. Simpler than deep semantic embeddings — but fast, transparent, and fully 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RESPONSIBLE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1F1A"/>
                </a:solidFill>
                <a:latin typeface="Georgia"/>
              </a:rPr>
              <a:t>Grounded when it can be — honest when it can't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800" cy="91440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2320" y="1828800"/>
            <a:ext cx="8361680" cy="914400"/>
          </a:xfrm>
          <a:prstGeom prst="rect">
            <a:avLst/>
          </a:prstGeom>
          <a:solidFill>
            <a:srgbClr val="F4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221F1A"/>
                </a:solidFill>
                <a:latin typeface="Georgia"/>
              </a:rPr>
              <a:t>“If the retrieved excerpts don't clearly speak to this case, say so honestly — rather than inventing a position.” — the rule given to every philosopher,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227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GROUNDED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21F1A"/>
                </a:solidFill>
                <a:latin typeface="Georgia"/>
              </a:rPr>
              <a:t>“Is it ever morally permissible to lie to protect someone from harm?”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063240"/>
            <a:ext cx="4023360" cy="1051560"/>
          </a:xfrm>
          <a:prstGeom prst="roundRect">
            <a:avLst>
              <a:gd name="adj" fmla="val 8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322783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3691F"/>
                </a:solidFill>
                <a:latin typeface="Consolas"/>
              </a:rPr>
              <a:t>TESTS HONESTY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5204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21F1A"/>
                </a:solidFill>
                <a:latin typeface="Georgia"/>
              </a:rPr>
              <a:t>“What would each philosopher think about cryptocurrency and Bitcoin mining?”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9052560" cy="1554480"/>
          </a:xfrm>
          <a:prstGeom prst="roundRect">
            <a:avLst>
              <a:gd name="adj" fmla="val 5000"/>
            </a:avLst>
          </a:prstGeom>
          <a:solidFill>
            <a:srgbClr val="F1DEDB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53832"/>
                </a:solidFill>
                <a:latin typeface="Consolas"/>
              </a:rPr>
              <a:t>CAPTURED LIVE — NIETZSCHE, ON THE CRYPTO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85039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221F1A"/>
                </a:solidFill>
                <a:latin typeface="Georgia"/>
              </a:rPr>
              <a:t>“I must clarify that Friedrich Nietzsche did not directly address the topic of cryptocurrency or Bitcoin mining, as these concepts emerged long after his time... I cannot provide a direct interpretation of Nietzsche's thoughts on such modern phenomena.”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21F1A"/>
                </a:solidFill>
                <a:latin typeface="Georgia"/>
              </a:rPr>
              <a:t>Now switching to AGORA, running at localhost:3000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65960"/>
            <a:ext cx="384048" cy="384048"/>
          </a:xfrm>
          <a:prstGeom prst="ellipse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9E4DA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3852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b="1" sz="1250">
                <a:solidFill>
                  <a:srgbClr val="221F1A"/>
                </a:solidFill>
                <a:latin typeface="Georgia"/>
              </a:rPr>
              <a:t>Ask the grounded question.  </a:t>
            </a:r>
            <a:r>
              <a:rPr sz="1250">
                <a:solidFill>
                  <a:srgbClr val="6B655A"/>
                </a:solidFill>
                <a:latin typeface="Georgia"/>
              </a:rPr>
              <a:t>Watch all three cards stream independently — open a citation dropdown to show the exact excerpt and match score behind a claim.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08960"/>
            <a:ext cx="384048" cy="384048"/>
          </a:xfrm>
          <a:prstGeom prst="ellipse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9E4DA"/>
                </a:solidFill>
                <a:latin typeface="Consola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8152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b="1" sz="1250">
                <a:solidFill>
                  <a:srgbClr val="221F1A"/>
                </a:solidFill>
                <a:latin typeface="Georgia"/>
              </a:rPr>
              <a:t>Ask the crypto question.  </a:t>
            </a:r>
            <a:r>
              <a:rPr sz="1250">
                <a:solidFill>
                  <a:srgbClr val="6B655A"/>
                </a:solidFill>
                <a:latin typeface="Georgia"/>
              </a:rPr>
              <a:t>Point out that at least one philosopher openly says the topic isn't in his own writing, before offering a clearly-labeled extrapolation.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251960"/>
            <a:ext cx="384048" cy="384048"/>
          </a:xfrm>
          <a:prstGeom prst="ellipse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E9E4DA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24528"/>
            <a:ext cx="4297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b="1" sz="1250">
                <a:solidFill>
                  <a:srgbClr val="221F1A"/>
                </a:solidFill>
                <a:latin typeface="Georgia"/>
              </a:rPr>
              <a:t>Try a live question from the room.  </a:t>
            </a:r>
            <a:r>
              <a:rPr sz="1250">
                <a:solidFill>
                  <a:srgbClr val="6B655A"/>
                </a:solidFill>
                <a:latin typeface="Georgia"/>
              </a:rPr>
              <a:t>Any dilemma the audience proposes — that's the real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965960"/>
            <a:ext cx="1828800" cy="420624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965960"/>
            <a:ext cx="1828800" cy="50800"/>
          </a:xfrm>
          <a:prstGeom prst="rect">
            <a:avLst/>
          </a:prstGeom>
          <a:solidFill>
            <a:srgbClr val="3F5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2167128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F5F80"/>
                </a:solidFill>
                <a:latin typeface="Georgia"/>
              </a:rPr>
              <a:t>Kant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2560320"/>
            <a:ext cx="153619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655A"/>
                </a:solidFill>
                <a:latin typeface="Georgia"/>
              </a:rPr>
              <a:t>“...lying, even with good intentions, undermines the foundation of moral action, which is duty-bound honesty.”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5669280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3691F"/>
                </a:solidFill>
                <a:latin typeface="Consolas"/>
              </a:rPr>
              <a:t>Fundamental Principles · 0.43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965960"/>
            <a:ext cx="1828800" cy="420624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8" y="1965960"/>
            <a:ext cx="1828800" cy="50800"/>
          </a:xfrm>
          <a:prstGeom prst="rect">
            <a:avLst/>
          </a:prstGeom>
          <a:solidFill>
            <a:srgbClr val="4F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2" y="2167128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6B45"/>
                </a:solidFill>
                <a:latin typeface="Georgia"/>
              </a:rPr>
              <a:t>Mill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2560320"/>
            <a:ext cx="153619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655A"/>
                </a:solidFill>
                <a:latin typeface="Georgia"/>
              </a:rPr>
              <a:t>“...the rightness of an act depends on its consequences for overall happiness, not on a rigid rule against deception.”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5669280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3691F"/>
                </a:solidFill>
                <a:latin typeface="Consolas"/>
              </a:rPr>
              <a:t>Utilitarianism · 0.44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12096" y="1965960"/>
            <a:ext cx="1828800" cy="4206240"/>
          </a:xfrm>
          <a:prstGeom prst="roundRect">
            <a:avLst>
              <a:gd name="adj" fmla="val 6000"/>
            </a:avLst>
          </a:prstGeom>
          <a:solidFill>
            <a:srgbClr val="F4F1E8"/>
          </a:solidFill>
          <a:ln w="9525">
            <a:solidFill>
              <a:srgbClr val="D8D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12096" y="1965960"/>
            <a:ext cx="1828800" cy="50800"/>
          </a:xfrm>
          <a:prstGeom prst="rect">
            <a:avLst/>
          </a:prstGeom>
          <a:solidFill>
            <a:srgbClr val="953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167128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53832"/>
                </a:solidFill>
                <a:latin typeface="Georgia"/>
              </a:rPr>
              <a:t>Nietzsche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560320"/>
            <a:ext cx="153619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6B655A"/>
                </a:solidFill>
                <a:latin typeface="Georgia"/>
              </a:rPr>
              <a:t>“...the prohibition against lying fails to account for the complexities of human situations.”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5669280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3691F"/>
                </a:solidFill>
                <a:latin typeface="Consolas"/>
              </a:rPr>
              <a:t>Genealogy of Morality · 0.39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1F1A"/>
                </a:solidFill>
                <a:latin typeface="Georgia"/>
              </a:rPr>
              <a:t>What building this actually taught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93691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1F1A"/>
                </a:solidFill>
                <a:latin typeface="Georgia"/>
              </a:rPr>
              <a:t>Clean data mattered more than clever prompts.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0008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55A"/>
                </a:solidFill>
                <a:latin typeface="Georgia"/>
              </a:rPr>
              <a:t>The raw PDFs were full of running headers, footnote markers, and a 15-page index. Retrieval only became trustworthy once that noise was stripped out and every book got real front matter — author, title,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93691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3756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1F1A"/>
                </a:solidFill>
                <a:latin typeface="Georgia"/>
              </a:rPr>
              <a:t>One shared pool of chunks wasn't fair to every author.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21608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55A"/>
                </a:solidFill>
                <a:latin typeface="Georgia"/>
              </a:rPr>
              <a:t>Nietzsche's material alone produced 444 chunks against Kant's 176 and Mill's 156 — early on, Nietzsche quietly crowded out the other two in every answer. Fixed by retrieving separately per philosopher.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93691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0916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21F1A"/>
                </a:solidFill>
                <a:latin typeface="Georgia"/>
              </a:rPr>
              <a:t>Local AI has real limits, not infinite offline power.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93208"/>
            <a:ext cx="9418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B655A"/>
                </a:solidFill>
                <a:latin typeface="Georgia"/>
              </a:rPr>
              <a:t>Running three generations back-to-back on a laptop occasionally made the model runtime cancel mid-answer — a memory limit, not a bug in the prompt. The app now retries automatically instead of crashing.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79120"/>
            <a:ext cx="320040" cy="19050"/>
          </a:xfrm>
          <a:prstGeom prst="rect">
            <a:avLst/>
          </a:prstGeom>
          <a:solidFill>
            <a:srgbClr val="936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691F"/>
                </a:solidFill>
                <a:latin typeface="Consolas"/>
              </a:rPr>
              <a:t>CREDITS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1F1A"/>
                </a:solidFill>
                <a:latin typeface="Georgia"/>
              </a:rPr>
              <a:t>Built on real texts and real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691F"/>
                </a:solidFill>
                <a:latin typeface="Consolas"/>
              </a:rPr>
              <a:t>PRIMARY 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F1A"/>
                </a:solidFill>
                <a:latin typeface="Georgia"/>
              </a:rPr>
              <a:t>Immanuel Kant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2432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A"/>
                </a:solidFill>
                <a:latin typeface="Georgia"/>
              </a:rPr>
              <a:t>Fundamental Principles of the Metaphysic of Morals — trans. T. K. Abbott, Project Gutenberg #5682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F1A"/>
                </a:solidFill>
                <a:latin typeface="Georgia"/>
              </a:rPr>
              <a:t>John Stuart Mill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3872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A"/>
                </a:solidFill>
                <a:latin typeface="Georgia"/>
              </a:rPr>
              <a:t>Utilitarianism — Global Grey ebooks edition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F1A"/>
                </a:solidFill>
                <a:latin typeface="Georgia"/>
              </a:rPr>
              <a:t>Friedrich Nietzsche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53128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A"/>
                </a:solidFill>
                <a:latin typeface="Georgia"/>
              </a:rPr>
              <a:t>On the Genealogy of Morality (+ supplementary excerpts) — trans. Carol Diethe, Cambridge University 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691F"/>
                </a:solidFill>
                <a:latin typeface="Consolas"/>
              </a:rPr>
              <a:t>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31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F1A"/>
                </a:solidFill>
                <a:latin typeface="Georgia"/>
              </a:rPr>
              <a:t>Foundry Local SDK + phi-3.5-mini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243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A"/>
                </a:solidFill>
                <a:latin typeface="Georgia"/>
              </a:rPr>
              <a:t>Microsoft — on-device model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449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F1A"/>
                </a:solidFill>
                <a:latin typeface="Georgia"/>
              </a:rPr>
              <a:t>Node.js /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A"/>
                </a:solidFill>
                <a:latin typeface="Georgia"/>
              </a:rPr>
              <a:t>local server &amp; SSE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5818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1F1A"/>
                </a:solidFill>
                <a:latin typeface="Georgia"/>
              </a:rPr>
              <a:t>SQLite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0507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A"/>
                </a:solidFill>
                <a:latin typeface="Georgia"/>
              </a:rPr>
              <a:t>local vector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562856"/>
            <a:ext cx="4754880" cy="9525"/>
          </a:xfrm>
          <a:prstGeom prst="rect">
            <a:avLst/>
          </a:prstGeom>
          <a:solidFill>
            <a:srgbClr val="D8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4573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3691F"/>
                </a:solidFill>
                <a:latin typeface="Consolas"/>
              </a:rPr>
              <a:t>REFERENCE ARTICLE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65776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691F"/>
                </a:solidFill>
                <a:latin typeface="Consolas"/>
              </a:rPr>
              <a:t>techcommunity.microsoft.com — “Building your first local RAG application with Foundry Local”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1" i="0">
                <a:solidFill>
                  <a:srgbClr val="221F1A"/>
                </a:solidFill>
                <a:latin typeface="Georgia"/>
              </a:rPr>
              <a:t>Ask a philosopher.</a:t>
            </a:r>
          </a:p>
          <a:p>
            <a:pPr algn="ctr">
              <a:lnSpc>
                <a:spcPct val="110000"/>
              </a:lnSpc>
            </a:pPr>
            <a:r>
              <a:rPr sz="4200" b="1" i="0">
                <a:solidFill>
                  <a:srgbClr val="221F1A"/>
                </a:solidFill>
                <a:latin typeface="Georgia"/>
              </a:rPr>
              <a:t>Get three honest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6B655A"/>
                </a:solidFill>
                <a:latin typeface="Georgia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3691F"/>
                </a:solidFill>
                <a:latin typeface="Consolas"/>
              </a:rPr>
              <a:t>AGORA · A LOCAL RAG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